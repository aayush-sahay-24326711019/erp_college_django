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9" r:id="rId7"/>
    <p:sldId id="270" r:id="rId8"/>
    <p:sldId id="271" r:id="rId9"/>
    <p:sldId id="272" r:id="rId10"/>
    <p:sldId id="274" r:id="rId11"/>
    <p:sldId id="273" r:id="rId12"/>
    <p:sldId id="275" r:id="rId13"/>
    <p:sldId id="276" r:id="rId14"/>
    <p:sldId id="277" r:id="rId15"/>
    <p:sldId id="260" r:id="rId16"/>
    <p:sldId id="261" r:id="rId17"/>
    <p:sldId id="262" r:id="rId18"/>
    <p:sldId id="286" r:id="rId19"/>
    <p:sldId id="263" r:id="rId20"/>
    <p:sldId id="278" r:id="rId21"/>
    <p:sldId id="279" r:id="rId22"/>
    <p:sldId id="280" r:id="rId23"/>
    <p:sldId id="282" r:id="rId24"/>
    <p:sldId id="281" r:id="rId25"/>
    <p:sldId id="283" r:id="rId26"/>
    <p:sldId id="264" r:id="rId27"/>
    <p:sldId id="284" r:id="rId28"/>
    <p:sldId id="285" r:id="rId29"/>
    <p:sldId id="265" r:id="rId30"/>
    <p:sldId id="287" r:id="rId31"/>
    <p:sldId id="289" r:id="rId32"/>
    <p:sldId id="28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3690" autoAdjust="0"/>
  </p:normalViewPr>
  <p:slideViewPr>
    <p:cSldViewPr snapToGrid="0">
      <p:cViewPr>
        <p:scale>
          <a:sx n="58" d="100"/>
          <a:sy n="58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BCB0-04F2-4F64-9C30-14DDE6E39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57F16-2E82-4F07-8E21-9D9481024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4D363-E9C7-4588-B2AB-F46723644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4397-E5A3-4963-9E05-96D7A479331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85203-4337-4B91-9DF5-C70E025FC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277AD-840E-4809-B975-AA7699F92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ED916-1D3D-4F91-90D6-56824D44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27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B3300-023F-4ECA-AC8E-0F25DD084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8BB3E-B350-4B77-8EC4-717FA89D7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F6179-53C1-4518-ADA0-8509F5722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4397-E5A3-4963-9E05-96D7A479331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5AD83-26EB-4BB0-8F34-7AA91F605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04614-ADA5-4CD4-A101-34C3B3F9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ED916-1D3D-4F91-90D6-56824D44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97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D9F07-386D-415C-A320-4A656E7A6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18A26-E48F-4608-90D4-3D585EA6C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B2E14-D6FB-4FB3-93C0-222037778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4397-E5A3-4963-9E05-96D7A479331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B2A9-93FD-4C73-8969-390A0D815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D1636-9892-4A26-B1B1-443D9FE49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ED916-1D3D-4F91-90D6-56824D44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42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A8D7A-6D4E-4206-A6C9-8D9194676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57F6B-A5FB-47F8-924F-A297169F8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754C1-BBA7-4BE8-B8F9-01EF14B10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F6F92-9917-402E-ACB0-482AC585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4397-E5A3-4963-9E05-96D7A479331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35BB9-D4C7-47F2-8AD9-DABCC0520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3A37E-1485-40C2-845B-3982C05A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ED916-1D3D-4F91-90D6-56824D44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2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64905-97EA-4468-ABFE-B6AF15F0F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10B68-99ED-47E7-B44C-144A044A9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3F2C9-3162-49BC-A407-C17480776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1BFFAC-977C-46E7-BBC0-E03FF69FA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C18132-F5CA-4118-8763-10967847F5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D0E6A-4AFC-4938-87DE-D2D99CEDD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4397-E5A3-4963-9E05-96D7A479331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5CAC80-1927-4812-8FFA-440082913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1A6C7-D7EC-4223-BB4F-4E7FEE27A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ED916-1D3D-4F91-90D6-56824D44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65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F0BBE-5073-4D08-9E83-4BD49D4F6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532AD-16A1-4385-9083-329C0DAC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4397-E5A3-4963-9E05-96D7A479331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088D9B-7C20-49A2-929F-87CA4B6B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1B44F-96FC-49E6-AD50-5CE872490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ED916-1D3D-4F91-90D6-56824D44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37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4F5C67-7A20-4F43-A0CB-E38F5424C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4397-E5A3-4963-9E05-96D7A479331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5A76C-328A-4F9F-8D66-104DED31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E847E-FD9B-4E1E-9741-8FEAD5071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ED916-1D3D-4F91-90D6-56824D44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83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4CE2A-075C-4BF9-B406-8D8CD9D94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8E90F-AEC0-4B1F-91B9-CF30110D9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37E2-3E29-454B-8FF8-B837F8715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C41247-40A1-4C9B-B835-AED6CF21E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4397-E5A3-4963-9E05-96D7A479331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018FE-1F4A-4B7E-A0BB-4A421B3B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D8712-580A-4A81-86AC-1F755B4E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ED916-1D3D-4F91-90D6-56824D44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8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98842-1C3D-46DD-B8D9-09A2B42A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5FADC2-FDE1-495F-8440-313C407345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207E0-2405-436D-A6A4-C84FDBC2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C34D5-6CFC-4ACC-990C-9A06F9BDC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4397-E5A3-4963-9E05-96D7A479331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55F8A-1F0B-460B-9E62-ADBFEE4C0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E7309-7288-4F6F-A6AF-A7C1AA379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ED916-1D3D-4F91-90D6-56824D44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14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309FE-6A51-438A-A3B6-5A7CFC632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68538D-E170-4206-B750-A7BC31BE4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DA894-E225-43BF-8134-13BF5E090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4397-E5A3-4963-9E05-96D7A479331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A9518-7588-4DBE-B65A-C67FD0CD1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4DCEC-ED0B-438E-BE09-8DBE397D9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ED916-1D3D-4F91-90D6-56824D44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78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C0560-1158-4580-881D-A0A94A0D40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9B27A-737E-4812-8194-8551A71B1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20867-FAB7-4CD9-A67E-19F3EF46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4397-E5A3-4963-9E05-96D7A479331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5C1EE-78B0-4C99-809A-7F64ECD9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AFD7D-A5F9-465D-B298-A2D3891E0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ED916-1D3D-4F91-90D6-56824D44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69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76A68E-1FD3-4B8A-89DE-97FA357E6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7501B-BD2F-4EDA-97F6-B141CEB3A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B4309-DE45-40E1-BE4F-F4E3C5D868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764397-E5A3-4963-9E05-96D7A479331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0CFCD-76E2-4FE1-8F5C-A0F6A1B55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23FA9-2B91-489A-BC73-909BD12B6E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ED916-1D3D-4F91-90D6-56824D44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73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32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microsoft.com/office/2007/relationships/hdphoto" Target="../media/hdphoto2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?utm_source=chatgpt.com" TargetMode="External"/><Relationship Id="rId2" Type="http://schemas.openxmlformats.org/officeDocument/2006/relationships/hyperlink" Target="https://docs.djangoproject.com/?utm_source=chatgpt.com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cs.docker.com/?utm_source=chatgpt.com" TargetMode="External"/><Relationship Id="rId4" Type="http://schemas.openxmlformats.org/officeDocument/2006/relationships/hyperlink" Target="https://www.postgresql.org/docs/?utm_source=chatgpt.com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69C4B-EDB8-4D72-A768-6FA55F7B6974}"/>
              </a:ext>
            </a:extLst>
          </p:cNvPr>
          <p:cNvSpPr txBox="1"/>
          <p:nvPr/>
        </p:nvSpPr>
        <p:spPr>
          <a:xfrm>
            <a:off x="131379" y="567559"/>
            <a:ext cx="6742387" cy="600164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rbel" panose="020B0503020204020204" pitchFamily="34" charset="0"/>
              </a:rPr>
              <a:t>LEVEL 1 PPT PRESENTATION</a:t>
            </a: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r>
              <a:rPr lang="en-US" dirty="0">
                <a:latin typeface="Corbel" panose="020B0503020204020204" pitchFamily="34" charset="0"/>
              </a:rPr>
              <a:t>Date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ABC779-BE63-4CC3-965A-F10C271CBBE1}"/>
              </a:ext>
            </a:extLst>
          </p:cNvPr>
          <p:cNvSpPr txBox="1"/>
          <p:nvPr/>
        </p:nvSpPr>
        <p:spPr>
          <a:xfrm>
            <a:off x="6957848" y="567559"/>
            <a:ext cx="5002926" cy="600164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Details of the Learner</a:t>
            </a:r>
          </a:p>
          <a:p>
            <a:endParaRPr lang="en-US" dirty="0"/>
          </a:p>
          <a:p>
            <a:br>
              <a:rPr lang="en-US" b="1" dirty="0"/>
            </a:br>
            <a:r>
              <a:rPr lang="en-US" b="1" dirty="0"/>
              <a:t>    Name :          Aayush Sahay</a:t>
            </a:r>
          </a:p>
          <a:p>
            <a:endParaRPr lang="en-US" dirty="0"/>
          </a:p>
          <a:p>
            <a:r>
              <a:rPr lang="en-US" b="1" dirty="0"/>
              <a:t>    Course :         MCA 4</a:t>
            </a:r>
            <a:r>
              <a:rPr lang="en-US" b="1" baseline="30000" dirty="0"/>
              <a:t>th</a:t>
            </a:r>
            <a:r>
              <a:rPr lang="en-US" b="1" dirty="0"/>
              <a:t> –AKU</a:t>
            </a:r>
          </a:p>
          <a:p>
            <a:endParaRPr lang="en-US" dirty="0"/>
          </a:p>
          <a:p>
            <a:r>
              <a:rPr lang="en-US" b="1" dirty="0"/>
              <a:t>    Session :        2024- 2026</a:t>
            </a:r>
          </a:p>
          <a:p>
            <a:endParaRPr lang="en-US" dirty="0"/>
          </a:p>
          <a:p>
            <a:r>
              <a:rPr lang="en-US" b="1" dirty="0"/>
              <a:t>    Enrollment : 24326711019</a:t>
            </a:r>
          </a:p>
          <a:p>
            <a:endParaRPr lang="en-US" dirty="0"/>
          </a:p>
          <a:p>
            <a:r>
              <a:rPr lang="en-US" b="1" dirty="0"/>
              <a:t>   Guide :           Dr. Amit Kumar Shukla (HOD-IT)</a:t>
            </a:r>
          </a:p>
          <a:p>
            <a:endParaRPr lang="en-US" dirty="0"/>
          </a:p>
          <a:p>
            <a:r>
              <a:rPr lang="en-US" b="1" dirty="0"/>
              <a:t>   Institution : Cimage Center of Digital Technology</a:t>
            </a:r>
          </a:p>
          <a:p>
            <a:r>
              <a:rPr lang="en-US" dirty="0"/>
              <a:t>                              </a:t>
            </a:r>
            <a:r>
              <a:rPr lang="en-US" b="1" dirty="0"/>
              <a:t>and Entrepreneurship, Patna</a:t>
            </a:r>
          </a:p>
          <a:p>
            <a:endParaRPr lang="en-US" dirty="0"/>
          </a:p>
          <a:p>
            <a:r>
              <a:rPr lang="en-US" b="1" dirty="0"/>
              <a:t>   Course Code : 326       College Code : 711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  For attainment of requirements for fulfillment of</a:t>
            </a:r>
            <a:br>
              <a:rPr lang="en-US" b="1" dirty="0"/>
            </a:br>
            <a:r>
              <a:rPr lang="en-US" b="1" dirty="0"/>
              <a:t>    </a:t>
            </a:r>
            <a:r>
              <a:rPr lang="en-US" sz="2400" b="1" dirty="0"/>
              <a:t>Masters in Computer Applications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7B921-72A2-4EC3-A55F-F4E3F0DBC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77" y="2317962"/>
            <a:ext cx="5001323" cy="397247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A89BD4-7F1D-4C9D-BD68-209D88CB4E19}"/>
              </a:ext>
            </a:extLst>
          </p:cNvPr>
          <p:cNvCxnSpPr/>
          <p:nvPr/>
        </p:nvCxnSpPr>
        <p:spPr>
          <a:xfrm>
            <a:off x="131379" y="1250731"/>
            <a:ext cx="6742387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A5876D-59DF-48DF-B237-6A88E423F18C}"/>
              </a:ext>
            </a:extLst>
          </p:cNvPr>
          <p:cNvCxnSpPr>
            <a:cxnSpLocks/>
          </p:cNvCxnSpPr>
          <p:nvPr/>
        </p:nvCxnSpPr>
        <p:spPr>
          <a:xfrm>
            <a:off x="6957848" y="1250731"/>
            <a:ext cx="5002926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B649CF9-8144-41EA-80D6-DFFD40F37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26" y="1307088"/>
            <a:ext cx="1977179" cy="1533843"/>
          </a:xfrm>
          <a:prstGeom prst="rect">
            <a:avLst/>
          </a:prstGeom>
        </p:spPr>
      </p:pic>
      <p:pic>
        <p:nvPicPr>
          <p:cNvPr id="1026" name="Picture 2" descr="CIMAGE - Catalyt College - Patna">
            <a:extLst>
              <a:ext uri="{FF2B5EF4-FFF2-40B4-BE49-F238E27FC236}">
                <a16:creationId xmlns:a16="http://schemas.microsoft.com/office/drawing/2014/main" id="{B6637D46-2AE8-4C16-A702-42B21779F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153" y="1314530"/>
            <a:ext cx="1599033" cy="1590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9870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69C4B-EDB8-4D72-A768-6FA55F7B6974}"/>
              </a:ext>
            </a:extLst>
          </p:cNvPr>
          <p:cNvSpPr txBox="1"/>
          <p:nvPr/>
        </p:nvSpPr>
        <p:spPr>
          <a:xfrm>
            <a:off x="131380" y="567559"/>
            <a:ext cx="6351614" cy="61555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rbel" panose="020B0503020204020204" pitchFamily="34" charset="0"/>
              </a:rPr>
              <a:t>Key Contents LEVEL 1 PPT PRESENTATION</a:t>
            </a: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sz="2800" dirty="0">
              <a:solidFill>
                <a:schemeClr val="accent5">
                  <a:lumMod val="50000"/>
                </a:schemeClr>
              </a:solidFill>
              <a:latin typeface="Corbel" panose="020B0503020204020204" pitchFamily="34" charset="0"/>
            </a:endParaRPr>
          </a:p>
          <a:p>
            <a:pPr marL="914400" indent="-342900">
              <a:buAutoNum type="arabicPeriod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Title of the Project</a:t>
            </a:r>
          </a:p>
          <a:p>
            <a:pPr marL="914400" indent="-342900">
              <a:buFontTx/>
              <a:buAutoNum type="arabicPeriod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Introduction to Project</a:t>
            </a:r>
          </a:p>
          <a:p>
            <a:pPr marL="914400" indent="-342900">
              <a:buAutoNum type="arabicPeriod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SRS</a:t>
            </a:r>
          </a:p>
          <a:p>
            <a:pPr marL="914400" indent="-342900">
              <a:buAutoNum type="arabicPeriod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Process Logic</a:t>
            </a:r>
          </a:p>
          <a:p>
            <a:pPr marL="914400" indent="-342900">
              <a:buAutoNum type="arabicPeriod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Gantt Chart</a:t>
            </a:r>
          </a:p>
          <a:p>
            <a:pPr marL="914400" indent="-342900">
              <a:buAutoNum type="arabicPeriod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Data Dictionary</a:t>
            </a:r>
          </a:p>
          <a:p>
            <a:pPr marL="914400" indent="-342900">
              <a:buAutoNum type="arabicPeriod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DFD</a:t>
            </a:r>
          </a:p>
          <a:p>
            <a:pPr marL="914400" indent="-342900">
              <a:buAutoNum type="arabicPeriod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ER Diagram</a:t>
            </a:r>
          </a:p>
          <a:p>
            <a:pPr marL="914400" indent="-342900">
              <a:buAutoNum type="arabicPeriod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Interfaces</a:t>
            </a:r>
          </a:p>
          <a:p>
            <a:pPr marL="914400" indent="-342900">
              <a:buAutoNum type="arabicPeriod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Expected Report Generation</a:t>
            </a:r>
          </a:p>
          <a:p>
            <a:pPr marL="914400" indent="-342900">
              <a:buAutoNum type="arabicPeriod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References &amp; Bibliography</a:t>
            </a:r>
          </a:p>
          <a:p>
            <a:pPr marL="914400" indent="-342900">
              <a:buAutoNum type="arabicPeriod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Future Scope of Project</a:t>
            </a:r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r>
              <a:rPr lang="en-US" dirty="0">
                <a:latin typeface="Corbel" panose="020B0503020204020204" pitchFamily="34" charset="0"/>
              </a:rPr>
              <a:t>Date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ABC779-BE63-4CC3-965A-F10C271CBBE1}"/>
              </a:ext>
            </a:extLst>
          </p:cNvPr>
          <p:cNvSpPr txBox="1"/>
          <p:nvPr/>
        </p:nvSpPr>
        <p:spPr>
          <a:xfrm>
            <a:off x="6957848" y="567559"/>
            <a:ext cx="5002926" cy="59093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A89BD4-7F1D-4C9D-BD68-209D88CB4E19}"/>
              </a:ext>
            </a:extLst>
          </p:cNvPr>
          <p:cNvCxnSpPr/>
          <p:nvPr/>
        </p:nvCxnSpPr>
        <p:spPr>
          <a:xfrm>
            <a:off x="131379" y="1250731"/>
            <a:ext cx="6742387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A5876D-59DF-48DF-B237-6A88E423F18C}"/>
              </a:ext>
            </a:extLst>
          </p:cNvPr>
          <p:cNvCxnSpPr>
            <a:cxnSpLocks/>
          </p:cNvCxnSpPr>
          <p:nvPr/>
        </p:nvCxnSpPr>
        <p:spPr>
          <a:xfrm>
            <a:off x="6957848" y="1250731"/>
            <a:ext cx="5002926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8B512EB-6933-4744-BB53-B8B89C43A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567" y="1392090"/>
            <a:ext cx="4637488" cy="442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464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5322223" y="614779"/>
            <a:ext cx="6742387" cy="5847755"/>
            <a:chOff x="131379" y="567559"/>
            <a:chExt cx="6742387" cy="584775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58477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914400" indent="-342900">
                <a:buAutoNum type="arabicPeriod"/>
              </a:pPr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Introduction to Project</a:t>
              </a:r>
            </a:p>
            <a:p>
              <a:pPr marL="342900" indent="-342900">
                <a:buAutoNum type="arabicPeriod"/>
              </a:pPr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sz="3600" b="1" dirty="0">
                  <a:solidFill>
                    <a:schemeClr val="accent2">
                      <a:lumMod val="75000"/>
                    </a:schemeClr>
                  </a:solidFill>
                  <a:latin typeface="Corbel" panose="020B0503020204020204" pitchFamily="34" charset="0"/>
                </a:rPr>
                <a:t>      College ERP : Django &amp; </a:t>
              </a:r>
              <a:r>
                <a:rPr lang="en-US" sz="3600" b="1" dirty="0" err="1">
                  <a:solidFill>
                    <a:schemeClr val="accent2">
                      <a:lumMod val="75000"/>
                    </a:schemeClr>
                  </a:solidFill>
                  <a:latin typeface="Corbel" panose="020B0503020204020204" pitchFamily="34" charset="0"/>
                </a:rPr>
                <a:t>Pgsql</a:t>
              </a:r>
              <a:endParaRPr lang="en-US" sz="3600" b="1" dirty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sz="3600" b="1" dirty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algn="ctr"/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Deploying A web-app made in Django.</a:t>
              </a:r>
              <a:b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Making a Docker container, communicates</a:t>
              </a:r>
              <a:b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with </a:t>
              </a:r>
              <a:r>
                <a:rPr lang="en-US" sz="2400" b="1" dirty="0" err="1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pgsql</a:t>
              </a:r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. Running EC2 instance and making</a:t>
              </a:r>
              <a:b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a demonstration for the idea of College ERP</a:t>
              </a:r>
              <a:br>
                <a:rPr lang="en-US" sz="36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rbel" panose="020B0503020204020204" pitchFamily="34" charset="0"/>
                </a:rPr>
              </a:br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ABC779-BE63-4CC3-965A-F10C271CBBE1}"/>
              </a:ext>
            </a:extLst>
          </p:cNvPr>
          <p:cNvSpPr txBox="1"/>
          <p:nvPr/>
        </p:nvSpPr>
        <p:spPr>
          <a:xfrm>
            <a:off x="127390" y="614779"/>
            <a:ext cx="5002926" cy="59093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A5876D-59DF-48DF-B237-6A88E423F18C}"/>
              </a:ext>
            </a:extLst>
          </p:cNvPr>
          <p:cNvCxnSpPr>
            <a:cxnSpLocks/>
          </p:cNvCxnSpPr>
          <p:nvPr/>
        </p:nvCxnSpPr>
        <p:spPr>
          <a:xfrm>
            <a:off x="127390" y="1297951"/>
            <a:ext cx="5002926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Python Django and Database">
            <a:extLst>
              <a:ext uri="{FF2B5EF4-FFF2-40B4-BE49-F238E27FC236}">
                <a16:creationId xmlns:a16="http://schemas.microsoft.com/office/drawing/2014/main" id="{98B6D12E-7205-43B9-A519-CB2D1FA0D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39" y="4641000"/>
            <a:ext cx="4675427" cy="154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eginners guide to Docker - Sysadmin Paul">
            <a:extLst>
              <a:ext uri="{FF2B5EF4-FFF2-40B4-BE49-F238E27FC236}">
                <a16:creationId xmlns:a16="http://schemas.microsoft.com/office/drawing/2014/main" id="{5122B4EA-11A4-43FE-8878-B5D76B992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84" y="3413224"/>
            <a:ext cx="3427627" cy="882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 Elastic Compute Cloud (EC2 ...">
            <a:extLst>
              <a:ext uri="{FF2B5EF4-FFF2-40B4-BE49-F238E27FC236}">
                <a16:creationId xmlns:a16="http://schemas.microsoft.com/office/drawing/2014/main" id="{06FDD487-60F6-40F5-8C7F-FE6EEF6C3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600" y="1737207"/>
            <a:ext cx="2346593" cy="1503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116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5322223" y="614779"/>
            <a:ext cx="6742387" cy="6032421"/>
            <a:chOff x="131379" y="567559"/>
            <a:chExt cx="6742387" cy="60324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03242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2. Objectives of the Project</a:t>
              </a:r>
            </a:p>
            <a:p>
              <a:pPr marL="342900" indent="-342900">
                <a:buAutoNum type="arabicPeriod"/>
              </a:pPr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sz="3600" b="1" dirty="0">
                  <a:solidFill>
                    <a:schemeClr val="accent2">
                      <a:lumMod val="75000"/>
                    </a:schemeClr>
                  </a:solidFill>
                  <a:latin typeface="Corbel" panose="020B0503020204020204" pitchFamily="34" charset="0"/>
                </a:rPr>
                <a:t>      College ERP : Django &amp; </a:t>
              </a:r>
              <a:r>
                <a:rPr lang="en-US" sz="3600" b="1" dirty="0" err="1">
                  <a:solidFill>
                    <a:schemeClr val="accent2">
                      <a:lumMod val="75000"/>
                    </a:schemeClr>
                  </a:solidFill>
                  <a:latin typeface="Corbel" panose="020B0503020204020204" pitchFamily="34" charset="0"/>
                </a:rPr>
                <a:t>Pgsql</a:t>
              </a:r>
              <a:endParaRPr lang="en-US" sz="3600" b="1" dirty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sz="3600" b="1" dirty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57200" indent="-457200" algn="just">
                <a:buAutoNum type="arabicPeriod"/>
              </a:pPr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Agile Software Development for MIS</a:t>
              </a:r>
            </a:p>
            <a:p>
              <a:pPr marL="457200" indent="-457200" algn="just">
                <a:buAutoNum type="arabicPeriod"/>
              </a:pPr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Deployment over cloud using AWS</a:t>
              </a:r>
            </a:p>
            <a:p>
              <a:pPr marL="457200" indent="-457200" algn="just">
                <a:buAutoNum type="arabicPeriod"/>
              </a:pPr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Rapid Enhancement / Feature Integration</a:t>
              </a:r>
            </a:p>
            <a:p>
              <a:pPr marL="457200" indent="-457200" algn="just">
                <a:buAutoNum type="arabicPeriod"/>
              </a:pPr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Version Controlling</a:t>
              </a:r>
            </a:p>
            <a:p>
              <a:pPr marL="457200" indent="-457200" algn="just">
                <a:buAutoNum type="arabicPeriod"/>
              </a:pPr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Dashboard , Info. / HR Management.</a:t>
              </a:r>
            </a:p>
            <a:p>
              <a:pPr marL="457200" indent="-457200" algn="just">
                <a:buAutoNum type="arabicPeriod"/>
              </a:pPr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Data Analytics using python</a:t>
              </a:r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ABC779-BE63-4CC3-965A-F10C271CBBE1}"/>
              </a:ext>
            </a:extLst>
          </p:cNvPr>
          <p:cNvSpPr txBox="1"/>
          <p:nvPr/>
        </p:nvSpPr>
        <p:spPr>
          <a:xfrm>
            <a:off x="127390" y="614779"/>
            <a:ext cx="5002926" cy="59093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A5876D-59DF-48DF-B237-6A88E423F18C}"/>
              </a:ext>
            </a:extLst>
          </p:cNvPr>
          <p:cNvCxnSpPr>
            <a:cxnSpLocks/>
          </p:cNvCxnSpPr>
          <p:nvPr/>
        </p:nvCxnSpPr>
        <p:spPr>
          <a:xfrm>
            <a:off x="127390" y="1297951"/>
            <a:ext cx="5002926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A6612C1-61C5-496F-BF64-1B1DC8949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09" y="1579790"/>
            <a:ext cx="4333088" cy="18492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32CF77-DA50-4974-85E2-335C3F327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95" y="3710838"/>
            <a:ext cx="4088916" cy="190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929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99153" y="614779"/>
            <a:ext cx="11965458" cy="6001643"/>
            <a:chOff x="131379" y="567559"/>
            <a:chExt cx="6742387" cy="60016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00164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3.1. SRS [Category of Project (Introduction)]</a:t>
              </a:r>
            </a:p>
            <a:p>
              <a:pPr marL="342900" indent="-342900">
                <a:buAutoNum type="arabicPeriod"/>
              </a:pPr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sz="3600" b="1" dirty="0">
                  <a:solidFill>
                    <a:schemeClr val="accent2">
                      <a:lumMod val="75000"/>
                    </a:schemeClr>
                  </a:solidFill>
                  <a:latin typeface="Corbel" panose="020B0503020204020204" pitchFamily="34" charset="0"/>
                </a:rPr>
                <a:t>     College ERP : Django &amp; </a:t>
              </a:r>
              <a:r>
                <a:rPr lang="en-US" sz="3600" b="1" dirty="0" err="1">
                  <a:solidFill>
                    <a:schemeClr val="accent2">
                      <a:lumMod val="75000"/>
                    </a:schemeClr>
                  </a:solidFill>
                  <a:latin typeface="Corbel" panose="020B0503020204020204" pitchFamily="34" charset="0"/>
                </a:rPr>
                <a:t>Pgsql</a:t>
              </a:r>
              <a:endParaRPr lang="en-US" sz="3600" b="1" dirty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sz="3600" b="1" dirty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r>
                <a:rPr lang="en-US" sz="2800" b="1" u="sng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CATEGORY : DEVOPS using Amazon AWS</a:t>
              </a:r>
              <a:b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It is a project demonstrating</a:t>
              </a:r>
            </a:p>
            <a:p>
              <a:pPr marL="461963"/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The learning of Software Project Management,</a:t>
              </a:r>
            </a:p>
            <a:p>
              <a:pPr marL="461963"/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Software Engineering &amp; Testing</a:t>
              </a:r>
              <a:b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and deploying it over Amazon cloud.</a:t>
              </a:r>
              <a:br>
                <a:rPr lang="en-US" sz="36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rbel" panose="020B0503020204020204" pitchFamily="34" charset="0"/>
                </a:rPr>
              </a:br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4817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0" y="614779"/>
            <a:ext cx="11965460" cy="5940088"/>
            <a:chOff x="131379" y="567559"/>
            <a:chExt cx="6742388" cy="490524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74835" y="567559"/>
              <a:ext cx="6698932" cy="490524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sz="20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3.2.   SRS [Functional Requirements]</a:t>
              </a: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sz="3600" b="1" dirty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r>
                <a:rPr lang="en-US" sz="2800" b="1" u="sng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Functional Requirements</a:t>
              </a:r>
            </a:p>
            <a:p>
              <a:pPr marL="461963"/>
              <a:r>
                <a:rPr lang="en-US" sz="2800" b="1" u="sng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</a:t>
              </a: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“ Features incorporated directly”</a:t>
              </a:r>
            </a:p>
            <a:p>
              <a:pPr marL="461963"/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Auth server side  (All actors)</a:t>
              </a:r>
              <a:br>
                <a:rPr lang="en-US" sz="36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Modules for Actors. / Add new Actors.</a:t>
              </a:r>
            </a:p>
            <a:p>
              <a:pPr marL="461963"/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Add Applications as requirement.</a:t>
              </a:r>
            </a:p>
            <a:p>
              <a:pPr marL="461963"/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Management of Information</a:t>
              </a:r>
            </a:p>
            <a:p>
              <a:pPr marL="976313" indent="-514350">
                <a:buAutoNum type="romanLcPeriod"/>
              </a:pP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HOD can make Timetables.</a:t>
              </a:r>
            </a:p>
            <a:p>
              <a:pPr marL="976313" indent="-514350">
                <a:buAutoNum type="romanLcPeriod"/>
              </a:pP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HOD can assign Subjects.</a:t>
              </a:r>
            </a:p>
            <a:p>
              <a:pPr marL="976313" indent="-514350">
                <a:buAutoNum type="romanLcPeriod"/>
              </a:pP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Faculty can Make Att.</a:t>
              </a:r>
            </a:p>
            <a:p>
              <a:pPr marL="976313" indent="-514350">
                <a:buAutoNum type="romanLcPeriod"/>
              </a:pP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Admin can manage / monitor</a:t>
              </a:r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845AA58-6569-423C-9CB5-FDEA348E0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185" y="1463560"/>
            <a:ext cx="7108173" cy="446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534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0" y="614779"/>
            <a:ext cx="11965460" cy="6017376"/>
            <a:chOff x="131379" y="567559"/>
            <a:chExt cx="6742388" cy="490524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74835" y="567559"/>
              <a:ext cx="6698932" cy="490524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sz="20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3.3.   SRS [Non Functional Requirements]</a:t>
              </a:r>
              <a:b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</a:br>
              <a:endParaRPr lang="en-US" sz="3600" b="1" dirty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r>
                <a:rPr lang="en-US" sz="2800" b="1" u="sng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Non Functional Requirements</a:t>
              </a:r>
            </a:p>
            <a:p>
              <a:pPr marL="461963"/>
              <a:r>
                <a:rPr lang="en-US" sz="2800" b="1" u="sng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</a:t>
              </a: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“ Features incorporated With </a:t>
              </a:r>
            </a:p>
            <a:p>
              <a:pPr marL="461963"/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     Supplementary ”</a:t>
              </a:r>
            </a:p>
            <a:p>
              <a:pPr marL="461963"/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Management of Information</a:t>
              </a:r>
            </a:p>
            <a:p>
              <a:pPr marL="976313" indent="-514350">
                <a:buAutoNum type="romanLcPeriod"/>
              </a:pP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S/w system is faster.</a:t>
              </a:r>
            </a:p>
            <a:p>
              <a:pPr marL="976313" indent="-514350">
                <a:buAutoNum type="romanLcPeriod"/>
              </a:pP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Software system is organized</a:t>
              </a:r>
            </a:p>
            <a:p>
              <a:pPr marL="976313" indent="-514350">
                <a:buAutoNum type="romanLcPeriod"/>
              </a:pP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Role based access and store.</a:t>
              </a:r>
            </a:p>
            <a:p>
              <a:pPr marL="976313" indent="-514350">
                <a:buAutoNum type="romanLcPeriod"/>
              </a:pP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Data Retrieval fast by ensuring</a:t>
              </a: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3.5 Normal Form / BCNF.</a:t>
              </a:r>
            </a:p>
            <a:p>
              <a:pPr marL="976313" indent="-514350">
                <a:buAutoNum type="romanLcPeriod"/>
              </a:pP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Quick access and clean UI</a:t>
              </a:r>
            </a:p>
            <a:p>
              <a:pPr marL="976313" indent="-514350">
                <a:buAutoNum type="romanLcPeriod"/>
              </a:pP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Highly customizable on demand.</a:t>
              </a:r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750922A-A1F6-456C-B76D-43C6BB45D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050" y="1545653"/>
            <a:ext cx="6506027" cy="433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856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0" y="614779"/>
            <a:ext cx="11965460" cy="6061443"/>
            <a:chOff x="131379" y="567559"/>
            <a:chExt cx="6742388" cy="429027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74835" y="567559"/>
              <a:ext cx="6698932" cy="42902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sz="20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3.4.   SRS [Interface Design]</a:t>
              </a:r>
              <a:b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</a:br>
              <a:endParaRPr lang="en-US" sz="3600" b="1" dirty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             </a:t>
              </a:r>
              <a:r>
                <a:rPr lang="en-US" sz="2800" b="1" u="sng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Interface Design</a:t>
              </a:r>
            </a:p>
            <a:p>
              <a:pPr marL="461963"/>
              <a:r>
                <a:rPr lang="en-US" sz="2800" b="1" u="sng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[MVT (Model View Template)]</a:t>
              </a:r>
            </a:p>
            <a:p>
              <a:pPr marL="976313" indent="-514350">
                <a:buAutoNum type="arabicPeriod"/>
              </a:pPr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Access By URL.</a:t>
              </a:r>
            </a:p>
            <a:p>
              <a:pPr marL="919163" indent="-457200">
                <a:buAutoNum type="arabicPeriod"/>
              </a:pPr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Views manage logic.</a:t>
              </a:r>
            </a:p>
            <a:p>
              <a:pPr marL="919163" indent="-457200">
                <a:buAutoNum type="arabicPeriod"/>
              </a:pPr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Models Manage Db.</a:t>
              </a:r>
            </a:p>
            <a:p>
              <a:pPr marL="919163" indent="-457200">
                <a:buAutoNum type="arabicPeriod"/>
              </a:pPr>
              <a:endParaRPr lang="en-US" sz="24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r>
                <a:rPr lang="en-US" sz="2800" b="1" u="sng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</a:t>
              </a:r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72113EF-6530-42F4-BBE4-5A78555ED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767" y="1960690"/>
            <a:ext cx="6676691" cy="445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612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0" y="614779"/>
            <a:ext cx="11965460" cy="6001643"/>
            <a:chOff x="131379" y="567559"/>
            <a:chExt cx="6742388" cy="541756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74835" y="567559"/>
              <a:ext cx="6698932" cy="54175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sz="20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3.5.   SRS [UI / UX]</a:t>
              </a:r>
              <a:endParaRPr lang="en-US" sz="3600" b="1" dirty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</a:t>
              </a:r>
              <a:r>
                <a:rPr lang="en-US" sz="2800" b="1" u="sng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How the Screens Look</a:t>
              </a: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4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r>
                <a:rPr lang="en-US" sz="2800" b="1" u="sng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</a:t>
              </a:r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1035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0" y="614779"/>
            <a:ext cx="11965460" cy="6093976"/>
            <a:chOff x="131379" y="567559"/>
            <a:chExt cx="6742388" cy="550090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74835" y="567559"/>
              <a:ext cx="6698932" cy="55009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4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r>
                <a:rPr lang="en-US" sz="2800" b="1" u="sng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</a:t>
              </a:r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0547366-8211-45C5-84C5-00C21CE27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93" y="1282846"/>
            <a:ext cx="10242014" cy="532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7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0" y="614779"/>
            <a:ext cx="11965460" cy="6093976"/>
            <a:chOff x="131379" y="567559"/>
            <a:chExt cx="6742388" cy="550090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74835" y="567559"/>
              <a:ext cx="6698932" cy="55009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4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r>
                <a:rPr lang="en-US" sz="2800" b="1" u="sng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</a:t>
              </a:r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7630EDA-4D6E-42AF-A801-5502E8890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865" y="1364757"/>
            <a:ext cx="9446270" cy="493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899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0" y="614779"/>
            <a:ext cx="11965460" cy="6093976"/>
            <a:chOff x="131379" y="567559"/>
            <a:chExt cx="6742388" cy="550090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74835" y="567559"/>
              <a:ext cx="6698932" cy="55009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4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r>
                <a:rPr lang="en-US" sz="2800" b="1" u="sng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</a:t>
              </a:r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A3D4D0D-9265-4627-9396-961679266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71" y="1519259"/>
            <a:ext cx="3752050" cy="22044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B8A51E-90B8-4016-AA38-90467A120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738" y="1519261"/>
            <a:ext cx="3711796" cy="22044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6F4A40-8DEB-4A33-AF3C-2B830FF6F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598" y="1473317"/>
            <a:ext cx="3711796" cy="223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381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0" y="614779"/>
            <a:ext cx="11965460" cy="6093976"/>
            <a:chOff x="131379" y="567559"/>
            <a:chExt cx="6742388" cy="550090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74835" y="567559"/>
              <a:ext cx="6698932" cy="55009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4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r>
                <a:rPr lang="en-US" sz="2800" b="1" u="sng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</a:t>
              </a:r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1153991-480B-4050-91C5-2C063BD65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315249"/>
            <a:ext cx="4650258" cy="23422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3CB1BA-6A32-4C2C-8ACD-9B5788C6B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188" y="4315250"/>
            <a:ext cx="4667225" cy="23422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217667F-C7F2-435C-96F7-D90CD9FF2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736992"/>
            <a:ext cx="6981022" cy="335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094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0" y="614779"/>
            <a:ext cx="11965460" cy="6001643"/>
            <a:chOff x="131379" y="567559"/>
            <a:chExt cx="6742388" cy="541756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74835" y="567559"/>
              <a:ext cx="6698932" cy="54175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sz="20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3.5.   SRS [UI / UX]</a:t>
              </a:r>
              <a:endParaRPr lang="en-US" sz="3600" b="1" dirty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</a:t>
              </a:r>
              <a:r>
                <a:rPr lang="en-US" sz="2800" b="1" u="sng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Limitations / Constraints</a:t>
              </a: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Dependency:</a:t>
              </a:r>
            </a:p>
            <a:p>
              <a:pPr marL="1033463" indent="-571500">
                <a:buAutoNum type="romanLcPeriod"/>
              </a:pPr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Django PGSQL</a:t>
              </a:r>
            </a:p>
            <a:p>
              <a:pPr marL="976313" indent="-514350">
                <a:buAutoNum type="romanLcPeriod"/>
              </a:pPr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Internet Connection</a:t>
              </a:r>
            </a:p>
            <a:p>
              <a:pPr marL="976313" indent="-514350">
                <a:buAutoNum type="romanLcPeriod"/>
              </a:pPr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Low Latency Hosting</a:t>
              </a:r>
              <a:endParaRPr lang="en-US" sz="24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800" b="1" u="sng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endParaRPr lang="en-US" sz="24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461963"/>
              <a:r>
                <a:rPr lang="en-US" sz="2800" b="1" u="sng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</a:t>
              </a:r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26A46CD-D372-459C-9643-2453195C2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824099"/>
            <a:ext cx="7542881" cy="502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04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5322223" y="614779"/>
            <a:ext cx="6742387" cy="5724644"/>
            <a:chOff x="131379" y="567559"/>
            <a:chExt cx="6742387" cy="572464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57246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4. Process Logic 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sz="3600" b="1" dirty="0">
                  <a:solidFill>
                    <a:schemeClr val="accent2">
                      <a:lumMod val="75000"/>
                    </a:schemeClr>
                  </a:solidFill>
                  <a:latin typeface="Corbel" panose="020B0503020204020204" pitchFamily="34" charset="0"/>
                </a:rPr>
                <a:t>    College ERP : Django &amp; </a:t>
              </a:r>
              <a:r>
                <a:rPr lang="en-US" sz="3600" b="1" dirty="0" err="1">
                  <a:solidFill>
                    <a:schemeClr val="accent2">
                      <a:lumMod val="75000"/>
                    </a:schemeClr>
                  </a:solidFill>
                  <a:latin typeface="Corbel" panose="020B0503020204020204" pitchFamily="34" charset="0"/>
                </a:rPr>
                <a:t>Pgsql</a:t>
              </a:r>
              <a:endParaRPr lang="en-US" sz="3600" b="1" dirty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341313"/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Frontend   : HTML, CSS, JS, </a:t>
              </a:r>
              <a:r>
                <a:rPr lang="en-US" sz="2000" b="1" dirty="0" err="1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JQuery</a:t>
              </a: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&amp; Ajax</a:t>
              </a:r>
            </a:p>
            <a:p>
              <a:pPr marL="341313"/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Backend    : Python , Django</a:t>
              </a:r>
            </a:p>
            <a:p>
              <a:pPr marL="341313"/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Database  : </a:t>
              </a:r>
              <a:r>
                <a:rPr lang="en-US" sz="2000" b="1" dirty="0" err="1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Postgre</a:t>
              </a: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sql</a:t>
              </a: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Environment of Dev. : Windows</a:t>
              </a: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Environment of Prod.: Linux (Ubuntu  Free-tier)</a:t>
              </a: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Containerization : Docker</a:t>
              </a: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Web Hosting : Amazon Cloud Free tier</a:t>
              </a: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Version Controlling : GitHub</a:t>
              </a: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ABC779-BE63-4CC3-965A-F10C271CBBE1}"/>
              </a:ext>
            </a:extLst>
          </p:cNvPr>
          <p:cNvSpPr txBox="1"/>
          <p:nvPr/>
        </p:nvSpPr>
        <p:spPr>
          <a:xfrm>
            <a:off x="127390" y="614779"/>
            <a:ext cx="5002926" cy="59093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A5876D-59DF-48DF-B237-6A88E423F18C}"/>
              </a:ext>
            </a:extLst>
          </p:cNvPr>
          <p:cNvCxnSpPr>
            <a:cxnSpLocks/>
          </p:cNvCxnSpPr>
          <p:nvPr/>
        </p:nvCxnSpPr>
        <p:spPr>
          <a:xfrm>
            <a:off x="127390" y="1297951"/>
            <a:ext cx="5002926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74" name="Picture 2" descr="Frontend and Backend in Web Development ...">
            <a:extLst>
              <a:ext uri="{FF2B5EF4-FFF2-40B4-BE49-F238E27FC236}">
                <a16:creationId xmlns:a16="http://schemas.microsoft.com/office/drawing/2014/main" id="{B3F9B041-F98D-447A-BF0F-968F1BF62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280" y="4039213"/>
            <a:ext cx="2146334" cy="1201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atabase logo Images - Free Download on ...">
            <a:extLst>
              <a:ext uri="{FF2B5EF4-FFF2-40B4-BE49-F238E27FC236}">
                <a16:creationId xmlns:a16="http://schemas.microsoft.com/office/drawing/2014/main" id="{4992D620-6BE3-4098-8022-4C411836B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635" y="3913721"/>
            <a:ext cx="1236567" cy="12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un Docker in Docker Containers ...">
            <a:extLst>
              <a:ext uri="{FF2B5EF4-FFF2-40B4-BE49-F238E27FC236}">
                <a16:creationId xmlns:a16="http://schemas.microsoft.com/office/drawing/2014/main" id="{60A63038-6D99-488B-B3BF-E11340524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803" y="1442320"/>
            <a:ext cx="2518116" cy="1110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What is GitHub? - Pythia Foundations">
            <a:extLst>
              <a:ext uri="{FF2B5EF4-FFF2-40B4-BE49-F238E27FC236}">
                <a16:creationId xmlns:a16="http://schemas.microsoft.com/office/drawing/2014/main" id="{E0DF5859-3E5F-440B-8C7E-6AF9769D1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41" y="1396849"/>
            <a:ext cx="2007632" cy="112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Title: Amazon EC2: The Backbone of ...">
            <a:extLst>
              <a:ext uri="{FF2B5EF4-FFF2-40B4-BE49-F238E27FC236}">
                <a16:creationId xmlns:a16="http://schemas.microsoft.com/office/drawing/2014/main" id="{A5A0A7FF-246F-478D-B7AD-57168C485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356" y="2527790"/>
            <a:ext cx="3257550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1C677D2-0402-4771-9883-32D8EABE3E4F}"/>
              </a:ext>
            </a:extLst>
          </p:cNvPr>
          <p:cNvSpPr/>
          <p:nvPr/>
        </p:nvSpPr>
        <p:spPr>
          <a:xfrm>
            <a:off x="1303457" y="3833870"/>
            <a:ext cx="3743745" cy="162727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2756AF-C4AB-44A1-AE83-AAEECFCC4C3E}"/>
              </a:ext>
            </a:extLst>
          </p:cNvPr>
          <p:cNvCxnSpPr/>
          <p:nvPr/>
        </p:nvCxnSpPr>
        <p:spPr>
          <a:xfrm>
            <a:off x="3810635" y="3833870"/>
            <a:ext cx="0" cy="15818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746D1C34-D8BA-4162-8601-BF6DCBB4AD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0803" y="5541000"/>
            <a:ext cx="2169194" cy="8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62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5322223" y="614779"/>
            <a:ext cx="6742387" cy="5724644"/>
            <a:chOff x="131379" y="567559"/>
            <a:chExt cx="6742387" cy="572464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57246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4. Process Logic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sz="3600" b="1" dirty="0">
                  <a:solidFill>
                    <a:schemeClr val="accent2">
                      <a:lumMod val="75000"/>
                    </a:schemeClr>
                  </a:solidFill>
                  <a:latin typeface="Corbel" panose="020B0503020204020204" pitchFamily="34" charset="0"/>
                </a:rPr>
                <a:t>     College ERP : Django &amp; </a:t>
              </a:r>
              <a:r>
                <a:rPr lang="en-US" sz="3600" b="1" dirty="0" err="1">
                  <a:solidFill>
                    <a:schemeClr val="accent2">
                      <a:lumMod val="75000"/>
                    </a:schemeClr>
                  </a:solidFill>
                  <a:latin typeface="Corbel" panose="020B0503020204020204" pitchFamily="34" charset="0"/>
                </a:rPr>
                <a:t>Pgsql</a:t>
              </a:r>
              <a:endParaRPr lang="en-US" sz="3600" b="1" dirty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pPr marL="341313"/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Site Design -&gt; Responsive Website</a:t>
              </a:r>
            </a:p>
            <a:p>
              <a:pPr marL="341313"/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OOAD           -&gt; Object Oriented </a:t>
              </a:r>
              <a:r>
                <a:rPr lang="en-US" sz="2000" b="1" dirty="0" err="1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S.w</a:t>
              </a: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Design Concept</a:t>
              </a:r>
            </a:p>
            <a:p>
              <a:pPr marL="341313"/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Agile              -&gt; Faster Development , </a:t>
              </a:r>
              <a:r>
                <a:rPr lang="en-US" sz="2000" b="1" dirty="0" err="1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Integ</a:t>
              </a: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., Deployment</a:t>
              </a: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Linux             -&gt; Networking , BASH, Logs-analysis</a:t>
              </a:r>
            </a:p>
            <a:p>
              <a:pPr marL="341313"/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Docker         -&gt; File -&gt; image -&gt;Container [bridges]</a:t>
              </a:r>
            </a:p>
            <a:p>
              <a:pPr marL="341313"/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GitHub         -&gt;Version Controlling</a:t>
              </a:r>
            </a:p>
            <a:p>
              <a:pPr marL="341313"/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DevOps         -&gt; Continuous Integration and Deployment</a:t>
              </a: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DB Admin    -&gt; DB Setup / Design / Audit</a:t>
              </a: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ABC779-BE63-4CC3-965A-F10C271CBBE1}"/>
              </a:ext>
            </a:extLst>
          </p:cNvPr>
          <p:cNvSpPr txBox="1"/>
          <p:nvPr/>
        </p:nvSpPr>
        <p:spPr>
          <a:xfrm>
            <a:off x="127390" y="614779"/>
            <a:ext cx="5002926" cy="59093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A5876D-59DF-48DF-B237-6A88E423F18C}"/>
              </a:ext>
            </a:extLst>
          </p:cNvPr>
          <p:cNvCxnSpPr>
            <a:cxnSpLocks/>
          </p:cNvCxnSpPr>
          <p:nvPr/>
        </p:nvCxnSpPr>
        <p:spPr>
          <a:xfrm>
            <a:off x="127390" y="1297951"/>
            <a:ext cx="5002926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98" name="Picture 2" descr="DevOps automation services">
            <a:extLst>
              <a:ext uri="{FF2B5EF4-FFF2-40B4-BE49-F238E27FC236}">
                <a16:creationId xmlns:a16="http://schemas.microsoft.com/office/drawing/2014/main" id="{2A62D286-B066-474C-A1F2-FFD523041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47" y="1401528"/>
            <a:ext cx="2717457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atabase administrator: role and training">
            <a:extLst>
              <a:ext uri="{FF2B5EF4-FFF2-40B4-BE49-F238E27FC236}">
                <a16:creationId xmlns:a16="http://schemas.microsoft.com/office/drawing/2014/main" id="{ED6B4660-A617-44CF-87A1-7B8D29492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0" y="2812196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 Software Engineer ...">
            <a:extLst>
              <a:ext uri="{FF2B5EF4-FFF2-40B4-BE49-F238E27FC236}">
                <a16:creationId xmlns:a16="http://schemas.microsoft.com/office/drawing/2014/main" id="{BE363C0B-6E79-478F-B8E3-E019988A0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47" y="4557425"/>
            <a:ext cx="3124200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Features of Python's Django Web Framework: A Detailed Review">
            <a:extLst>
              <a:ext uri="{FF2B5EF4-FFF2-40B4-BE49-F238E27FC236}">
                <a16:creationId xmlns:a16="http://schemas.microsoft.com/office/drawing/2014/main" id="{68CF6F9F-1B36-4121-B110-4EF45CB88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200" y="4798388"/>
            <a:ext cx="1590162" cy="984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PostgreSQL Foreign Data Wrappers ...">
            <a:extLst>
              <a:ext uri="{FF2B5EF4-FFF2-40B4-BE49-F238E27FC236}">
                <a16:creationId xmlns:a16="http://schemas.microsoft.com/office/drawing/2014/main" id="{D81C7C06-570D-4C43-A9BC-61403EB73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404" y="2910455"/>
            <a:ext cx="1835958" cy="119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What is Docker and why it is used?">
            <a:extLst>
              <a:ext uri="{FF2B5EF4-FFF2-40B4-BE49-F238E27FC236}">
                <a16:creationId xmlns:a16="http://schemas.microsoft.com/office/drawing/2014/main" id="{EDED0E08-761F-4C2D-9DE3-1172653B7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302" y="1443280"/>
            <a:ext cx="1442130" cy="1191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3340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0" y="614779"/>
            <a:ext cx="12064610" cy="6186309"/>
            <a:chOff x="131379" y="567559"/>
            <a:chExt cx="6742387" cy="618630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18630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571500"/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5. Gantt Chart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341313"/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E74B7FF-BB53-4B30-903E-BB1568332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0" y="1773715"/>
            <a:ext cx="11937220" cy="490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821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0" y="614779"/>
            <a:ext cx="12064610" cy="6186309"/>
            <a:chOff x="131379" y="567559"/>
            <a:chExt cx="6742387" cy="618630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18630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571500"/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5. Gantt Chart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341313"/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E74B7FF-BB53-4B30-903E-BB1568332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0" y="1773715"/>
            <a:ext cx="11937220" cy="4901675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FD8177-9434-476F-8CF2-063B03165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390500"/>
              </p:ext>
            </p:extLst>
          </p:nvPr>
        </p:nvGraphicFramePr>
        <p:xfrm>
          <a:off x="319489" y="2190883"/>
          <a:ext cx="11479577" cy="40523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3629">
                  <a:extLst>
                    <a:ext uri="{9D8B030D-6E8A-4147-A177-3AD203B41FA5}">
                      <a16:colId xmlns:a16="http://schemas.microsoft.com/office/drawing/2014/main" val="2097939936"/>
                    </a:ext>
                  </a:extLst>
                </a:gridCol>
                <a:gridCol w="660695">
                  <a:extLst>
                    <a:ext uri="{9D8B030D-6E8A-4147-A177-3AD203B41FA5}">
                      <a16:colId xmlns:a16="http://schemas.microsoft.com/office/drawing/2014/main" val="1959266160"/>
                    </a:ext>
                  </a:extLst>
                </a:gridCol>
                <a:gridCol w="660695">
                  <a:extLst>
                    <a:ext uri="{9D8B030D-6E8A-4147-A177-3AD203B41FA5}">
                      <a16:colId xmlns:a16="http://schemas.microsoft.com/office/drawing/2014/main" val="1316638131"/>
                    </a:ext>
                  </a:extLst>
                </a:gridCol>
                <a:gridCol w="660695">
                  <a:extLst>
                    <a:ext uri="{9D8B030D-6E8A-4147-A177-3AD203B41FA5}">
                      <a16:colId xmlns:a16="http://schemas.microsoft.com/office/drawing/2014/main" val="3930289913"/>
                    </a:ext>
                  </a:extLst>
                </a:gridCol>
                <a:gridCol w="660695">
                  <a:extLst>
                    <a:ext uri="{9D8B030D-6E8A-4147-A177-3AD203B41FA5}">
                      <a16:colId xmlns:a16="http://schemas.microsoft.com/office/drawing/2014/main" val="2131896409"/>
                    </a:ext>
                  </a:extLst>
                </a:gridCol>
                <a:gridCol w="660695">
                  <a:extLst>
                    <a:ext uri="{9D8B030D-6E8A-4147-A177-3AD203B41FA5}">
                      <a16:colId xmlns:a16="http://schemas.microsoft.com/office/drawing/2014/main" val="2080619114"/>
                    </a:ext>
                  </a:extLst>
                </a:gridCol>
                <a:gridCol w="660695">
                  <a:extLst>
                    <a:ext uri="{9D8B030D-6E8A-4147-A177-3AD203B41FA5}">
                      <a16:colId xmlns:a16="http://schemas.microsoft.com/office/drawing/2014/main" val="3304045303"/>
                    </a:ext>
                  </a:extLst>
                </a:gridCol>
                <a:gridCol w="578109">
                  <a:extLst>
                    <a:ext uri="{9D8B030D-6E8A-4147-A177-3AD203B41FA5}">
                      <a16:colId xmlns:a16="http://schemas.microsoft.com/office/drawing/2014/main" val="2821607087"/>
                    </a:ext>
                  </a:extLst>
                </a:gridCol>
                <a:gridCol w="812104">
                  <a:extLst>
                    <a:ext uri="{9D8B030D-6E8A-4147-A177-3AD203B41FA5}">
                      <a16:colId xmlns:a16="http://schemas.microsoft.com/office/drawing/2014/main" val="1394858015"/>
                    </a:ext>
                  </a:extLst>
                </a:gridCol>
                <a:gridCol w="660695">
                  <a:extLst>
                    <a:ext uri="{9D8B030D-6E8A-4147-A177-3AD203B41FA5}">
                      <a16:colId xmlns:a16="http://schemas.microsoft.com/office/drawing/2014/main" val="1354568888"/>
                    </a:ext>
                  </a:extLst>
                </a:gridCol>
                <a:gridCol w="660695">
                  <a:extLst>
                    <a:ext uri="{9D8B030D-6E8A-4147-A177-3AD203B41FA5}">
                      <a16:colId xmlns:a16="http://schemas.microsoft.com/office/drawing/2014/main" val="1493452102"/>
                    </a:ext>
                  </a:extLst>
                </a:gridCol>
                <a:gridCol w="660695">
                  <a:extLst>
                    <a:ext uri="{9D8B030D-6E8A-4147-A177-3AD203B41FA5}">
                      <a16:colId xmlns:a16="http://schemas.microsoft.com/office/drawing/2014/main" val="1828512918"/>
                    </a:ext>
                  </a:extLst>
                </a:gridCol>
                <a:gridCol w="660695">
                  <a:extLst>
                    <a:ext uri="{9D8B030D-6E8A-4147-A177-3AD203B41FA5}">
                      <a16:colId xmlns:a16="http://schemas.microsoft.com/office/drawing/2014/main" val="2074330209"/>
                    </a:ext>
                  </a:extLst>
                </a:gridCol>
                <a:gridCol w="839634">
                  <a:extLst>
                    <a:ext uri="{9D8B030D-6E8A-4147-A177-3AD203B41FA5}">
                      <a16:colId xmlns:a16="http://schemas.microsoft.com/office/drawing/2014/main" val="2064326830"/>
                    </a:ext>
                  </a:extLst>
                </a:gridCol>
                <a:gridCol w="660695">
                  <a:extLst>
                    <a:ext uri="{9D8B030D-6E8A-4147-A177-3AD203B41FA5}">
                      <a16:colId xmlns:a16="http://schemas.microsoft.com/office/drawing/2014/main" val="1333901507"/>
                    </a:ext>
                  </a:extLst>
                </a:gridCol>
                <a:gridCol w="908456">
                  <a:extLst>
                    <a:ext uri="{9D8B030D-6E8A-4147-A177-3AD203B41FA5}">
                      <a16:colId xmlns:a16="http://schemas.microsoft.com/office/drawing/2014/main" val="3835853174"/>
                    </a:ext>
                  </a:extLst>
                </a:gridCol>
              </a:tblGrid>
              <a:tr h="238373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extLst>
                  <a:ext uri="{0D108BD9-81ED-4DB2-BD59-A6C34878D82A}">
                    <a16:rowId xmlns:a16="http://schemas.microsoft.com/office/drawing/2014/main" val="1705361572"/>
                  </a:ext>
                </a:extLst>
              </a:tr>
              <a:tr h="238373">
                <a:tc gridSpan="16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 Months Gannt Chart (Process Based)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092777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31-Mar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 gridSpan="9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Skill Learning</a:t>
                      </a:r>
                      <a:endParaRPr lang="en-US" sz="1100" b="0" i="0" u="none" strike="noStrike">
                        <a:solidFill>
                          <a:srgbClr val="0061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61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31-May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61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30-Jun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extLst>
                  <a:ext uri="{0D108BD9-81ED-4DB2-BD59-A6C34878D82A}">
                    <a16:rowId xmlns:a16="http://schemas.microsoft.com/office/drawing/2014/main" val="3125304010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extLst>
                  <a:ext uri="{0D108BD9-81ED-4DB2-BD59-A6C34878D82A}">
                    <a16:rowId xmlns:a16="http://schemas.microsoft.com/office/drawing/2014/main" val="2033697357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Python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extLst>
                  <a:ext uri="{0D108BD9-81ED-4DB2-BD59-A6C34878D82A}">
                    <a16:rowId xmlns:a16="http://schemas.microsoft.com/office/drawing/2014/main" val="3193014738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Django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extLst>
                  <a:ext uri="{0D108BD9-81ED-4DB2-BD59-A6C34878D82A}">
                    <a16:rowId xmlns:a16="http://schemas.microsoft.com/office/drawing/2014/main" val="1078272872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linux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extLst>
                  <a:ext uri="{0D108BD9-81ED-4DB2-BD59-A6C34878D82A}">
                    <a16:rowId xmlns:a16="http://schemas.microsoft.com/office/drawing/2014/main" val="3111620622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bash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extLst>
                  <a:ext uri="{0D108BD9-81ED-4DB2-BD59-A6C34878D82A}">
                    <a16:rowId xmlns:a16="http://schemas.microsoft.com/office/drawing/2014/main" val="4210927201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github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extLst>
                  <a:ext uri="{0D108BD9-81ED-4DB2-BD59-A6C34878D82A}">
                    <a16:rowId xmlns:a16="http://schemas.microsoft.com/office/drawing/2014/main" val="1401731390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postgres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extLst>
                  <a:ext uri="{0D108BD9-81ED-4DB2-BD59-A6C34878D82A}">
                    <a16:rowId xmlns:a16="http://schemas.microsoft.com/office/drawing/2014/main" val="1444958902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docker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extLst>
                  <a:ext uri="{0D108BD9-81ED-4DB2-BD59-A6C34878D82A}">
                    <a16:rowId xmlns:a16="http://schemas.microsoft.com/office/drawing/2014/main" val="3515500739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AmazonEC2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extLst>
                  <a:ext uri="{0D108BD9-81ED-4DB2-BD59-A6C34878D82A}">
                    <a16:rowId xmlns:a16="http://schemas.microsoft.com/office/drawing/2014/main" val="511051752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extLst>
                  <a:ext uri="{0D108BD9-81ED-4DB2-BD59-A6C34878D82A}">
                    <a16:rowId xmlns:a16="http://schemas.microsoft.com/office/drawing/2014/main" val="1829104801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Requirements gathering</a:t>
                      </a:r>
                      <a:endParaRPr lang="en-US" sz="1100" b="0" i="0" u="none" strike="noStrike">
                        <a:solidFill>
                          <a:srgbClr val="0061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extLst>
                  <a:ext uri="{0D108BD9-81ED-4DB2-BD59-A6C34878D82A}">
                    <a16:rowId xmlns:a16="http://schemas.microsoft.com/office/drawing/2014/main" val="3863740072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Coding &amp; VC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extLst>
                  <a:ext uri="{0D108BD9-81ED-4DB2-BD59-A6C34878D82A}">
                    <a16:rowId xmlns:a16="http://schemas.microsoft.com/office/drawing/2014/main" val="3975766882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extLst>
                  <a:ext uri="{0D108BD9-81ED-4DB2-BD59-A6C34878D82A}">
                    <a16:rowId xmlns:a16="http://schemas.microsoft.com/office/drawing/2014/main" val="2785190817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Deployement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04" marR="6304" marT="6304" marB="0" anchor="b"/>
                </a:tc>
                <a:extLst>
                  <a:ext uri="{0D108BD9-81ED-4DB2-BD59-A6C34878D82A}">
                    <a16:rowId xmlns:a16="http://schemas.microsoft.com/office/drawing/2014/main" val="125840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745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76271" y="614779"/>
            <a:ext cx="11888340" cy="6063198"/>
            <a:chOff x="131379" y="567559"/>
            <a:chExt cx="6742387" cy="606319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063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6. Data Dictionary</a:t>
              </a:r>
            </a:p>
            <a:p>
              <a:pPr marL="571500"/>
              <a:b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</a:b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46ACACF-D985-47AD-BD4C-220045EC5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132" y="1295102"/>
            <a:ext cx="8063033" cy="516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128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76271" y="614779"/>
            <a:ext cx="11888340" cy="6063198"/>
            <a:chOff x="131379" y="567559"/>
            <a:chExt cx="6742387" cy="606319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063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6. Data Dictionary</a:t>
              </a:r>
            </a:p>
            <a:p>
              <a:pPr marL="571500"/>
              <a:b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</a:b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CAD2B92-3A01-442A-8457-D70017B90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958" y="1209690"/>
            <a:ext cx="7970146" cy="511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4793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76271" y="614779"/>
            <a:ext cx="11888340" cy="6063198"/>
            <a:chOff x="131379" y="567559"/>
            <a:chExt cx="6742387" cy="606319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063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6. Data Dictionary</a:t>
              </a:r>
            </a:p>
            <a:p>
              <a:pPr marL="571500"/>
              <a:b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</a:b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65B7676-4E3B-4AFA-BA00-25F47959A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21" y="1876824"/>
            <a:ext cx="8850338" cy="400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152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76271" y="614779"/>
            <a:ext cx="11888340" cy="6063198"/>
            <a:chOff x="131379" y="567559"/>
            <a:chExt cx="6742387" cy="606319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063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6. Data Dictionary</a:t>
              </a:r>
            </a:p>
            <a:p>
              <a:pPr marL="571500"/>
              <a:b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</a:b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C7DA3DC-BA35-41A4-9EBC-2632BC80F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176" y="1981124"/>
            <a:ext cx="8797375" cy="401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4667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76271" y="614779"/>
            <a:ext cx="11888340" cy="6001643"/>
            <a:chOff x="131379" y="567559"/>
            <a:chExt cx="6742387" cy="60016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00164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       </a:t>
              </a:r>
              <a:r>
                <a:rPr lang="en-US" sz="24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7. Data Flow Diagram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b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</a:b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CC66236-E8EC-4953-A90E-89F9FB56E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526" y="1072614"/>
            <a:ext cx="8066642" cy="537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492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76271" y="614779"/>
            <a:ext cx="11888340" cy="6001643"/>
            <a:chOff x="131379" y="567559"/>
            <a:chExt cx="6742387" cy="60016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00164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     </a:t>
              </a:r>
              <a:r>
                <a:rPr lang="en-US" sz="24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8. ER Diagram</a:t>
              </a:r>
            </a:p>
            <a:p>
              <a:r>
                <a:rPr lang="en-US" sz="2400" b="1" dirty="0">
                  <a:latin typeface="Corbel" panose="020B0503020204020204" pitchFamily="34" charset="0"/>
                </a:rPr>
                <a:t> </a:t>
              </a: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b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</a:b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41AB34D-E1C1-405A-BB02-1A0DBB927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136" y="1267733"/>
            <a:ext cx="9503728" cy="534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76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76271" y="614779"/>
            <a:ext cx="11888340" cy="6001643"/>
            <a:chOff x="131379" y="567559"/>
            <a:chExt cx="6742387" cy="60016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00164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     </a:t>
              </a:r>
              <a:r>
                <a:rPr lang="en-US" sz="24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9. Complete Interface</a:t>
              </a:r>
            </a:p>
            <a:p>
              <a:r>
                <a:rPr lang="en-US" sz="2400" b="1" dirty="0">
                  <a:latin typeface="Corbel" panose="020B0503020204020204" pitchFamily="34" charset="0"/>
                </a:rPr>
                <a:t> </a:t>
              </a: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b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</a:b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6EF8AE4-C9C4-4DF1-8919-F03665EE2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159" y="1297951"/>
            <a:ext cx="10892010" cy="481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20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5322223" y="614779"/>
            <a:ext cx="6742387" cy="6001643"/>
            <a:chOff x="131379" y="567559"/>
            <a:chExt cx="6742387" cy="60016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00164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571500"/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10. Expected Report Generation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sz="3600" b="1" dirty="0">
                  <a:solidFill>
                    <a:schemeClr val="accent2">
                      <a:lumMod val="75000"/>
                    </a:schemeClr>
                  </a:solidFill>
                  <a:latin typeface="Corbel" panose="020B0503020204020204" pitchFamily="34" charset="0"/>
                </a:rPr>
                <a:t>    College ERP : Django &amp; </a:t>
              </a:r>
              <a:r>
                <a:rPr lang="en-US" sz="3600" b="1" dirty="0" err="1">
                  <a:solidFill>
                    <a:schemeClr val="accent2">
                      <a:lumMod val="75000"/>
                    </a:schemeClr>
                  </a:solidFill>
                  <a:latin typeface="Corbel" panose="020B0503020204020204" pitchFamily="34" charset="0"/>
                </a:rPr>
                <a:t>Pgsql</a:t>
              </a: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Mainly, All Information being managed</a:t>
              </a:r>
            </a:p>
            <a:p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Is capable for report generation and</a:t>
              </a:r>
            </a:p>
            <a:p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Analysis.</a:t>
              </a: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(Done in .csv / .pdf form.)</a:t>
              </a:r>
            </a:p>
            <a:p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ABC779-BE63-4CC3-965A-F10C271CBBE1}"/>
              </a:ext>
            </a:extLst>
          </p:cNvPr>
          <p:cNvSpPr txBox="1"/>
          <p:nvPr/>
        </p:nvSpPr>
        <p:spPr>
          <a:xfrm>
            <a:off x="127390" y="614779"/>
            <a:ext cx="5002926" cy="59093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A5876D-59DF-48DF-B237-6A88E423F18C}"/>
              </a:ext>
            </a:extLst>
          </p:cNvPr>
          <p:cNvCxnSpPr>
            <a:cxnSpLocks/>
          </p:cNvCxnSpPr>
          <p:nvPr/>
        </p:nvCxnSpPr>
        <p:spPr>
          <a:xfrm>
            <a:off x="127390" y="1297951"/>
            <a:ext cx="5002926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146" name="Picture 2" descr="What Is Software Engineering?">
            <a:extLst>
              <a:ext uri="{FF2B5EF4-FFF2-40B4-BE49-F238E27FC236}">
                <a16:creationId xmlns:a16="http://schemas.microsoft.com/office/drawing/2014/main" id="{CC681DB0-0085-4159-ACCD-0F8083EF7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" y="3768116"/>
            <a:ext cx="3593909" cy="2963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DevOps Engineer | Why do we Need a ...">
            <a:extLst>
              <a:ext uri="{FF2B5EF4-FFF2-40B4-BE49-F238E27FC236}">
                <a16:creationId xmlns:a16="http://schemas.microsoft.com/office/drawing/2014/main" id="{87D5CCBC-1DFE-4E10-98A6-CE7BC1CAF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24" y="1901815"/>
            <a:ext cx="2867025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Dba symbol Images - Free Download on ...">
            <a:extLst>
              <a:ext uri="{FF2B5EF4-FFF2-40B4-BE49-F238E27FC236}">
                <a16:creationId xmlns:a16="http://schemas.microsoft.com/office/drawing/2014/main" id="{127F545E-D19A-4BCA-A2E2-596917571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043" y="1901815"/>
            <a:ext cx="1419979" cy="141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79402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5322223" y="614779"/>
            <a:ext cx="6742387" cy="6247864"/>
            <a:chOff x="131379" y="567559"/>
            <a:chExt cx="6742387" cy="62478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478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571500"/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11. Future Scope of project 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sz="3600" b="1" dirty="0">
                  <a:solidFill>
                    <a:schemeClr val="accent2">
                      <a:lumMod val="75000"/>
                    </a:schemeClr>
                  </a:solidFill>
                  <a:latin typeface="Corbel" panose="020B0503020204020204" pitchFamily="34" charset="0"/>
                </a:rPr>
                <a:t>    College ERP : Django &amp; </a:t>
              </a:r>
              <a:r>
                <a:rPr lang="en-US" sz="3600" b="1" dirty="0" err="1">
                  <a:solidFill>
                    <a:schemeClr val="accent2">
                      <a:lumMod val="75000"/>
                    </a:schemeClr>
                  </a:solidFill>
                  <a:latin typeface="Corbel" panose="020B0503020204020204" pitchFamily="34" charset="0"/>
                </a:rPr>
                <a:t>Pgsql</a:t>
              </a: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1. Since , A college is a dynamic Org.</a:t>
              </a:r>
            </a:p>
            <a:p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    Changes in s/w will be incorporated</a:t>
              </a:r>
              <a:b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    as need Arises.</a:t>
              </a:r>
            </a:p>
            <a:p>
              <a:endParaRPr lang="en-US" sz="28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2. Advance level for Data Analytics</a:t>
              </a:r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  <a:t>      For improvement of Administration / Management.</a:t>
              </a:r>
            </a:p>
            <a:p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ABC779-BE63-4CC3-965A-F10C271CBBE1}"/>
              </a:ext>
            </a:extLst>
          </p:cNvPr>
          <p:cNvSpPr txBox="1"/>
          <p:nvPr/>
        </p:nvSpPr>
        <p:spPr>
          <a:xfrm>
            <a:off x="127390" y="614779"/>
            <a:ext cx="5002926" cy="59093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A5876D-59DF-48DF-B237-6A88E423F18C}"/>
              </a:ext>
            </a:extLst>
          </p:cNvPr>
          <p:cNvCxnSpPr>
            <a:cxnSpLocks/>
          </p:cNvCxnSpPr>
          <p:nvPr/>
        </p:nvCxnSpPr>
        <p:spPr>
          <a:xfrm>
            <a:off x="127390" y="1297951"/>
            <a:ext cx="5002926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146" name="Picture 2" descr="What Is Software Engineering?">
            <a:extLst>
              <a:ext uri="{FF2B5EF4-FFF2-40B4-BE49-F238E27FC236}">
                <a16:creationId xmlns:a16="http://schemas.microsoft.com/office/drawing/2014/main" id="{CC681DB0-0085-4159-ACCD-0F8083EF7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" y="3768116"/>
            <a:ext cx="3593909" cy="2963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DevOps Engineer | Why do we Need a ...">
            <a:extLst>
              <a:ext uri="{FF2B5EF4-FFF2-40B4-BE49-F238E27FC236}">
                <a16:creationId xmlns:a16="http://schemas.microsoft.com/office/drawing/2014/main" id="{87D5CCBC-1DFE-4E10-98A6-CE7BC1CAF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24" y="1901815"/>
            <a:ext cx="2867025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Dba symbol Images - Free Download on ...">
            <a:extLst>
              <a:ext uri="{FF2B5EF4-FFF2-40B4-BE49-F238E27FC236}">
                <a16:creationId xmlns:a16="http://schemas.microsoft.com/office/drawing/2014/main" id="{127F545E-D19A-4BCA-A2E2-596917571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043" y="1901815"/>
            <a:ext cx="1419979" cy="141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725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21187" y="614779"/>
            <a:ext cx="11943424" cy="6032421"/>
            <a:chOff x="131379" y="567559"/>
            <a:chExt cx="6742387" cy="60324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03242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571500"/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12. References and Bibliography </a:t>
              </a:r>
            </a:p>
            <a:p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000" dirty="0">
                  <a:hlinkClick r:id="rId2"/>
                </a:rPr>
                <a:t>Django Documentation</a:t>
              </a:r>
              <a:br>
                <a:rPr lang="en-US" sz="2000" dirty="0"/>
              </a:br>
              <a:r>
                <a:rPr lang="en-US" sz="2000" dirty="0"/>
                <a:t>The official documentation for the Django web framework, covering installation, models, views, templates, deployment, and advanced development concepts.</a:t>
              </a:r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r>
                <a:rPr lang="en-US" sz="2000" dirty="0">
                  <a:hlinkClick r:id="rId3"/>
                </a:rPr>
                <a:t>AWS Documentation</a:t>
              </a:r>
              <a:br>
                <a:rPr lang="en-US" sz="2000" dirty="0"/>
              </a:br>
              <a:r>
                <a:rPr lang="en-US" sz="2000" dirty="0"/>
                <a:t>Official Amazon Web Services documentation providing guides and references for cloud services, deployment, storage, networking, and security.</a:t>
              </a:r>
            </a:p>
            <a:p>
              <a:r>
                <a:rPr lang="en-US" sz="2000" dirty="0">
                  <a:hlinkClick r:id="rId4"/>
                </a:rPr>
                <a:t>PostgreSQL Documentation</a:t>
              </a:r>
              <a:br>
                <a:rPr lang="en-US" sz="2000" dirty="0"/>
              </a:br>
              <a:r>
                <a:rPr lang="en-US" sz="2000" dirty="0"/>
                <a:t>Official PostgreSQL documentation covering SQL syntax, database administration, indexing, security, backup, and performance optimization.</a:t>
              </a: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r>
                <a:rPr lang="en-US" sz="2000">
                  <a:hlinkClick r:id="rId5"/>
                </a:rPr>
                <a:t>Docker Documentation</a:t>
              </a:r>
              <a:br>
                <a:rPr lang="en-US" sz="2000"/>
              </a:br>
              <a:r>
                <a:rPr lang="en-US" sz="2000"/>
                <a:t>Official Docker documentation for containerization, Docker Engine, Docker Compose, image management, and deployment workflows.</a:t>
              </a:r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29350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5322223" y="614779"/>
            <a:ext cx="6742387" cy="5755422"/>
            <a:chOff x="131379" y="567559"/>
            <a:chExt cx="6742387" cy="575542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575542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sz="32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sz="32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End of Presentation</a:t>
              </a:r>
            </a:p>
            <a:p>
              <a:pPr marL="571500"/>
              <a:endParaRPr lang="en-US" sz="32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sz="3600" b="1" dirty="0">
                  <a:solidFill>
                    <a:schemeClr val="accent2">
                      <a:lumMod val="75000"/>
                    </a:schemeClr>
                  </a:solidFill>
                  <a:latin typeface="Corbel" panose="020B0503020204020204" pitchFamily="34" charset="0"/>
                </a:rPr>
                <a:t>   College ERP : Django &amp; </a:t>
              </a:r>
              <a:r>
                <a:rPr lang="en-US" sz="3600" b="1" dirty="0" err="1">
                  <a:solidFill>
                    <a:schemeClr val="accent2">
                      <a:lumMod val="75000"/>
                    </a:schemeClr>
                  </a:solidFill>
                  <a:latin typeface="Corbel" panose="020B0503020204020204" pitchFamily="34" charset="0"/>
                </a:rPr>
                <a:t>Pgsql</a:t>
              </a: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ABC779-BE63-4CC3-965A-F10C271CBBE1}"/>
              </a:ext>
            </a:extLst>
          </p:cNvPr>
          <p:cNvSpPr txBox="1"/>
          <p:nvPr/>
        </p:nvSpPr>
        <p:spPr>
          <a:xfrm>
            <a:off x="127390" y="614779"/>
            <a:ext cx="5002926" cy="59093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A5876D-59DF-48DF-B237-6A88E423F18C}"/>
              </a:ext>
            </a:extLst>
          </p:cNvPr>
          <p:cNvCxnSpPr>
            <a:cxnSpLocks/>
          </p:cNvCxnSpPr>
          <p:nvPr/>
        </p:nvCxnSpPr>
        <p:spPr>
          <a:xfrm>
            <a:off x="127390" y="1297951"/>
            <a:ext cx="5002926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170" name="Picture 2" descr="aws #amazon #likeatamazon #thankyou #dublinireland | Rahul Potghan | 68  comments">
            <a:extLst>
              <a:ext uri="{FF2B5EF4-FFF2-40B4-BE49-F238E27FC236}">
                <a16:creationId xmlns:a16="http://schemas.microsoft.com/office/drawing/2014/main" id="{FBD64EE9-DC91-4A30-A9B1-14BB327D1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0" y="1297951"/>
            <a:ext cx="4876928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61366A-C0AB-40A8-B3EE-053EFA9FF63E}"/>
              </a:ext>
            </a:extLst>
          </p:cNvPr>
          <p:cNvSpPr txBox="1"/>
          <p:nvPr/>
        </p:nvSpPr>
        <p:spPr>
          <a:xfrm>
            <a:off x="1079653" y="3667354"/>
            <a:ext cx="34923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4183630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69C4B-EDB8-4D72-A768-6FA55F7B6974}"/>
              </a:ext>
            </a:extLst>
          </p:cNvPr>
          <p:cNvSpPr txBox="1"/>
          <p:nvPr/>
        </p:nvSpPr>
        <p:spPr>
          <a:xfrm>
            <a:off x="131379" y="567559"/>
            <a:ext cx="6742387" cy="600164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rbel" panose="020B0503020204020204" pitchFamily="34" charset="0"/>
              </a:rPr>
              <a:t>LEVEL 2 PPT PRESENTATION</a:t>
            </a: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r>
              <a:rPr lang="en-US" dirty="0">
                <a:latin typeface="Corbel" panose="020B0503020204020204" pitchFamily="34" charset="0"/>
              </a:rPr>
              <a:t>Date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ABC779-BE63-4CC3-965A-F10C271CBBE1}"/>
              </a:ext>
            </a:extLst>
          </p:cNvPr>
          <p:cNvSpPr txBox="1"/>
          <p:nvPr/>
        </p:nvSpPr>
        <p:spPr>
          <a:xfrm>
            <a:off x="6957848" y="567559"/>
            <a:ext cx="5002926" cy="600164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Details of the Learner</a:t>
            </a:r>
          </a:p>
          <a:p>
            <a:endParaRPr lang="en-US" dirty="0"/>
          </a:p>
          <a:p>
            <a:br>
              <a:rPr lang="en-US" b="1" dirty="0"/>
            </a:br>
            <a:r>
              <a:rPr lang="en-US" b="1" dirty="0"/>
              <a:t>    Name :          Aayush Sahay</a:t>
            </a:r>
          </a:p>
          <a:p>
            <a:endParaRPr lang="en-US" dirty="0"/>
          </a:p>
          <a:p>
            <a:r>
              <a:rPr lang="en-US" b="1" dirty="0"/>
              <a:t>    Course :         MCA 4</a:t>
            </a:r>
            <a:r>
              <a:rPr lang="en-US" b="1" baseline="30000" dirty="0"/>
              <a:t>th</a:t>
            </a:r>
            <a:r>
              <a:rPr lang="en-US" b="1" dirty="0"/>
              <a:t> –AKU</a:t>
            </a:r>
          </a:p>
          <a:p>
            <a:endParaRPr lang="en-US" dirty="0"/>
          </a:p>
          <a:p>
            <a:r>
              <a:rPr lang="en-US" b="1" dirty="0"/>
              <a:t>    Session :        2024- 2026</a:t>
            </a:r>
          </a:p>
          <a:p>
            <a:endParaRPr lang="en-US" dirty="0"/>
          </a:p>
          <a:p>
            <a:r>
              <a:rPr lang="en-US" b="1" dirty="0"/>
              <a:t>    Enrollment : 24326711019</a:t>
            </a:r>
          </a:p>
          <a:p>
            <a:endParaRPr lang="en-US" dirty="0"/>
          </a:p>
          <a:p>
            <a:r>
              <a:rPr lang="en-US" b="1" dirty="0"/>
              <a:t>   Guide :           Dr. Amit Kumar Shukla (HOD-IT)</a:t>
            </a:r>
          </a:p>
          <a:p>
            <a:endParaRPr lang="en-US" dirty="0"/>
          </a:p>
          <a:p>
            <a:r>
              <a:rPr lang="en-US" b="1" dirty="0"/>
              <a:t>   Institution : Cimage Center of Digital Technology</a:t>
            </a:r>
          </a:p>
          <a:p>
            <a:r>
              <a:rPr lang="en-US" dirty="0"/>
              <a:t>                              </a:t>
            </a:r>
            <a:r>
              <a:rPr lang="en-US" b="1" dirty="0"/>
              <a:t>and Entrepreneurship, Patna</a:t>
            </a:r>
          </a:p>
          <a:p>
            <a:endParaRPr lang="en-US" dirty="0"/>
          </a:p>
          <a:p>
            <a:r>
              <a:rPr lang="en-US" b="1" dirty="0"/>
              <a:t>   Course Code : 326       College Code : 711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  For attainment of requirements for fulfillment of</a:t>
            </a:r>
            <a:br>
              <a:rPr lang="en-US" b="1" dirty="0"/>
            </a:br>
            <a:r>
              <a:rPr lang="en-US" b="1" dirty="0"/>
              <a:t>    </a:t>
            </a:r>
            <a:r>
              <a:rPr lang="en-US" sz="2400" b="1" dirty="0"/>
              <a:t>Masters in Computer Applications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7B921-72A2-4EC3-A55F-F4E3F0DBC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77" y="2317962"/>
            <a:ext cx="5001323" cy="397247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A89BD4-7F1D-4C9D-BD68-209D88CB4E19}"/>
              </a:ext>
            </a:extLst>
          </p:cNvPr>
          <p:cNvCxnSpPr/>
          <p:nvPr/>
        </p:nvCxnSpPr>
        <p:spPr>
          <a:xfrm>
            <a:off x="131379" y="1250731"/>
            <a:ext cx="6742387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A5876D-59DF-48DF-B237-6A88E423F18C}"/>
              </a:ext>
            </a:extLst>
          </p:cNvPr>
          <p:cNvCxnSpPr>
            <a:cxnSpLocks/>
          </p:cNvCxnSpPr>
          <p:nvPr/>
        </p:nvCxnSpPr>
        <p:spPr>
          <a:xfrm>
            <a:off x="6957848" y="1250731"/>
            <a:ext cx="5002926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B649CF9-8144-41EA-80D6-DFFD40F37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26" y="1307088"/>
            <a:ext cx="1977179" cy="1533843"/>
          </a:xfrm>
          <a:prstGeom prst="rect">
            <a:avLst/>
          </a:prstGeom>
        </p:spPr>
      </p:pic>
      <p:pic>
        <p:nvPicPr>
          <p:cNvPr id="1026" name="Picture 2" descr="CIMAGE - Catalyt College - Patna">
            <a:extLst>
              <a:ext uri="{FF2B5EF4-FFF2-40B4-BE49-F238E27FC236}">
                <a16:creationId xmlns:a16="http://schemas.microsoft.com/office/drawing/2014/main" id="{B6637D46-2AE8-4C16-A702-42B21779F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153" y="1314530"/>
            <a:ext cx="1599033" cy="1590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072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69C4B-EDB8-4D72-A768-6FA55F7B6974}"/>
              </a:ext>
            </a:extLst>
          </p:cNvPr>
          <p:cNvSpPr txBox="1"/>
          <p:nvPr/>
        </p:nvSpPr>
        <p:spPr>
          <a:xfrm>
            <a:off x="131380" y="567559"/>
            <a:ext cx="6351614" cy="597086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rbel" panose="020B0503020204020204" pitchFamily="34" charset="0"/>
              </a:rPr>
              <a:t>Key Contents LEVEL 2 PPT PRESENTATION</a:t>
            </a: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sz="2800" dirty="0">
              <a:solidFill>
                <a:schemeClr val="accent5">
                  <a:lumMod val="50000"/>
                </a:schemeClr>
              </a:solidFill>
              <a:latin typeface="Corbel" panose="020B0503020204020204" pitchFamily="34" charset="0"/>
            </a:endParaRPr>
          </a:p>
          <a:p>
            <a:pPr marL="914400" indent="-342900">
              <a:buAutoNum type="arabicPeriod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Abstract of </a:t>
            </a:r>
            <a:r>
              <a:rPr lang="en-US" sz="2400" b="1" dirty="0" err="1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Lv1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 ppt</a:t>
            </a:r>
          </a:p>
          <a:p>
            <a:pPr marL="914400" indent="-342900">
              <a:buFontTx/>
              <a:buAutoNum type="arabicPeriod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Recommendations During </a:t>
            </a:r>
            <a:r>
              <a:rPr lang="en-US" sz="2400" b="1" dirty="0" err="1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lv1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rbel" panose="020B0503020204020204" pitchFamily="34" charset="0"/>
            </a:endParaRPr>
          </a:p>
          <a:p>
            <a:pPr marL="914400" indent="-342900">
              <a:buAutoNum type="arabicPeriod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Gantt chart</a:t>
            </a:r>
          </a:p>
          <a:p>
            <a:pPr marL="914400" indent="-342900">
              <a:buAutoNum type="arabicPeriod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Deployment Procedure AWS EC2</a:t>
            </a: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r>
              <a:rPr lang="en-US" dirty="0">
                <a:latin typeface="Corbel" panose="020B0503020204020204" pitchFamily="34" charset="0"/>
              </a:rPr>
              <a:t>Date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ABC779-BE63-4CC3-965A-F10C271CBBE1}"/>
              </a:ext>
            </a:extLst>
          </p:cNvPr>
          <p:cNvSpPr txBox="1"/>
          <p:nvPr/>
        </p:nvSpPr>
        <p:spPr>
          <a:xfrm>
            <a:off x="6957848" y="567559"/>
            <a:ext cx="5002926" cy="59093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A89BD4-7F1D-4C9D-BD68-209D88CB4E19}"/>
              </a:ext>
            </a:extLst>
          </p:cNvPr>
          <p:cNvCxnSpPr/>
          <p:nvPr/>
        </p:nvCxnSpPr>
        <p:spPr>
          <a:xfrm>
            <a:off x="131379" y="1250731"/>
            <a:ext cx="6742387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A5876D-59DF-48DF-B237-6A88E423F18C}"/>
              </a:ext>
            </a:extLst>
          </p:cNvPr>
          <p:cNvCxnSpPr>
            <a:cxnSpLocks/>
          </p:cNvCxnSpPr>
          <p:nvPr/>
        </p:nvCxnSpPr>
        <p:spPr>
          <a:xfrm>
            <a:off x="6957848" y="1250731"/>
            <a:ext cx="5002926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8B512EB-6933-4744-BB53-B8B89C43A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567" y="1392090"/>
            <a:ext cx="4637488" cy="442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0394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5322223" y="614779"/>
            <a:ext cx="6742387" cy="5816977"/>
            <a:chOff x="131379" y="567559"/>
            <a:chExt cx="6742387" cy="581697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58169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1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Inserting all the Required Records </a:t>
              </a:r>
            </a:p>
            <a:p>
              <a:pPr marL="571500"/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To the Database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ABC779-BE63-4CC3-965A-F10C271CBBE1}"/>
              </a:ext>
            </a:extLst>
          </p:cNvPr>
          <p:cNvSpPr txBox="1"/>
          <p:nvPr/>
        </p:nvSpPr>
        <p:spPr>
          <a:xfrm>
            <a:off x="127390" y="614779"/>
            <a:ext cx="5002926" cy="59093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A5876D-59DF-48DF-B237-6A88E423F18C}"/>
              </a:ext>
            </a:extLst>
          </p:cNvPr>
          <p:cNvCxnSpPr>
            <a:cxnSpLocks/>
          </p:cNvCxnSpPr>
          <p:nvPr/>
        </p:nvCxnSpPr>
        <p:spPr>
          <a:xfrm>
            <a:off x="127390" y="1297951"/>
            <a:ext cx="5002926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285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1565</Words>
  <Application>Microsoft Office PowerPoint</Application>
  <PresentationFormat>Widescreen</PresentationFormat>
  <Paragraphs>770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62</cp:revision>
  <dcterms:created xsi:type="dcterms:W3CDTF">2026-05-05T06:49:34Z</dcterms:created>
  <dcterms:modified xsi:type="dcterms:W3CDTF">2026-07-02T12:09:05Z</dcterms:modified>
</cp:coreProperties>
</file>